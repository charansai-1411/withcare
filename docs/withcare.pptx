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02124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02124"/>
                </a:solidFill>
                <a:latin typeface="Calibri"/>
              </a:rPr>
              <a:t>Adversarial suite — pass rate by category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 %</c:v>
                </c:pt>
              </c:strCache>
            </c:strRef>
          </c:tx>
          <c:spPr>
            <a:solidFill>
              <a:srgbClr val="0E8F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F636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Injection</c:v>
                  </c:pt>
                  <c:pt idx="1">
                    <c:v>Clinical</c:v>
                  </c:pt>
                  <c:pt idx="2">
                    <c:v>ML-safety</c:v>
                  </c:pt>
                  <c:pt idx="3">
                    <c:v>Grounding</c:v>
                  </c:pt>
                  <c:pt idx="4">
                    <c:v>Constraints</c:v>
                  </c:pt>
                  <c:pt idx="5">
                    <c:v>Robustness</c:v>
                  </c:pt>
                  <c:pt idx="6">
                    <c:v>Multiling.</c:v>
                  </c:pt>
                  <c:pt idx="7">
                    <c:v>Overall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98</c:v>
                </c:pt>
                <c:pt idx="4">
                  <c:v>100</c:v>
                </c:pt>
                <c:pt idx="5">
                  <c:v>100</c:v>
                </c:pt>
                <c:pt idx="6">
                  <c:v>85</c:v>
                </c:pt>
                <c:pt idx="7">
                  <c:v>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F636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3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hyperlink" Target="https://withcare-501007.web.app" TargetMode="External"/><Relationship Id="rId7" Type="http://schemas.openxmlformats.org/officeDocument/2006/relationships/hyperlink" Target="https://github.com/charansai-1411/WithCare" TargetMode="External"/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ithcare-501007.web.app" TargetMode="External"/><Relationship Id="rId4" Type="http://schemas.openxmlformats.org/officeDocument/2006/relationships/hyperlink" Target="https://github.com/charansai-1411/WithCare" TargetMode="External"/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554480" cy="13368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2304288" y="2084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family deserves a personal AI care team.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2304288" y="254203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healthcare-navigation assistant for India — turning scattered health information into grounded, completed actions for the whole family: parents, children, even pets.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029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5176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65176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265176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tools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80060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80060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8006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4944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94944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94944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458 tests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9828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09828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098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Cloud Run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84632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1F3F4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31520" y="4956048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YARRANAGULA CHARAN SAI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Team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Transformers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Better Living &amp; Smarter Communities  →  Healthcare Access &amp; Community Wellness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ABOUT 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caregiver just chats — WithCare does the coordinating.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India the hardest part of healthcare isn't the medicine — it's the navigation. WithCare turns one plain-language worry into a coordinated, auditable set of actions, for anyone in the family.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E8F0F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1872" dirty="0"/>
          </a:p>
        </p:txBody>
      </p:sp>
      <p:sp>
        <p:nvSpPr>
          <p:cNvPr id="8" name="Text 6"/>
          <p:cNvSpPr/>
          <p:nvPr/>
        </p:nvSpPr>
        <p:spPr>
          <a:xfrm>
            <a:off x="7589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each concern to the right specialist AI agent.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021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E6F4EA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1872" dirty="0"/>
          </a:p>
        </p:txBody>
      </p:sp>
      <p:sp>
        <p:nvSpPr>
          <p:cNvPr id="13" name="Text 11"/>
          <p:cNvSpPr/>
          <p:nvPr/>
        </p:nvSpPr>
        <p:spPr>
          <a:xfrm>
            <a:off x="35021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021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from real data — Maps, Firestore, Search, your docs.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893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453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EF3D6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1872" dirty="0"/>
          </a:p>
        </p:txBody>
      </p:sp>
      <p:sp>
        <p:nvSpPr>
          <p:cNvPr id="18" name="Text 16"/>
          <p:cNvSpPr/>
          <p:nvPr/>
        </p:nvSpPr>
        <p:spPr>
          <a:xfrm>
            <a:off x="62453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453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per-profile knowledge graph, so it never re-asks.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7325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9885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CE8E6"/>
          </a:solidFill>
          <a:ln/>
        </p:spPr>
      </p:sp>
      <p:sp>
        <p:nvSpPr>
          <p:cNvPr id="22" name="Text 20"/>
          <p:cNvSpPr/>
          <p:nvPr/>
        </p:nvSpPr>
        <p:spPr>
          <a:xfrm>
            <a:off x="89885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72" dirty="0"/>
          </a:p>
        </p:txBody>
      </p:sp>
      <p:sp>
        <p:nvSpPr>
          <p:cNvPr id="23" name="Text 21"/>
          <p:cNvSpPr/>
          <p:nvPr/>
        </p:nvSpPr>
        <p:spPr>
          <a:xfrm>
            <a:off x="89885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9885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irreversible actions gated in code, not prompts.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502920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1F3F6"/>
          </a:solidFill>
          <a:ln w="12700">
            <a:solidFill>
              <a:srgbClr val="BCE2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50292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its work.  </a:t>
            </a:r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inspectable “N specialists consulted” trace means the user — and a judge — sees the reasoning, not a black box.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SOLVED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reasoning from action.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design idea — and the reason it's safe enough for healthcare.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3774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decides WHAT
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(Vertex AI) reads plain language and emits typed function calls — composing multiple tools for one request.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45352" y="214884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E6F4EA"/>
          </a:solidFill>
          <a:ln w="12700">
            <a:solidFill>
              <a:srgbClr val="C4E7CF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9672" y="23774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decides WHETHER &amp; HOW
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tools with code-level guardrails execute — a model can be jail-broken, a code gate cannot.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control flow: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🚑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gate (pre-loop)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34056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871216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Confirm-before-book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65192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02352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tool loop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196328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33488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427464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564624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fake completions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· USP · HOW IT'S DIFFERENT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layer, not a chatbot.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311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5079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health chatbot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WithCare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Diagnoses / doses?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— unsafe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— refuses in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facts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memory (hallucinates)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Grounded: Maps · Firestore · Search ·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Forgets each session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12-type knowledge graph, per 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Takes real actions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talks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Books &amp; reminds via your Google 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Prompt-level, brittle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Enforced in control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India-specific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PM-JAY · Aarogyasri · 11 languages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 specialists consulted” trace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— THE CORE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caregiver needs, in one place.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7315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agent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 in plain words; a live multi-agent trace.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1612" dirty="0"/>
          </a:p>
        </p:txBody>
      </p:sp>
      <p:sp>
        <p:nvSpPr>
          <p:cNvPr id="12" name="Text 10"/>
          <p:cNvSpPr/>
          <p:nvPr/>
        </p:nvSpPr>
        <p:spPr>
          <a:xfrm>
            <a:off x="34747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4747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Hospitals, clinics, gyms &amp; parks — real, from Google Maps.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893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6F4EA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612" dirty="0"/>
          </a:p>
        </p:txBody>
      </p:sp>
      <p:sp>
        <p:nvSpPr>
          <p:cNvPr id="17" name="Text 15"/>
          <p:cNvSpPr/>
          <p:nvPr/>
        </p:nvSpPr>
        <p:spPr>
          <a:xfrm>
            <a:off x="62179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179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schemes + private insurance with eligibility.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7325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3E8FD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843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612" dirty="0"/>
          </a:p>
        </p:txBody>
      </p:sp>
      <p:sp>
        <p:nvSpPr>
          <p:cNvPr id="22" name="Text 20"/>
          <p:cNvSpPr/>
          <p:nvPr/>
        </p:nvSpPr>
        <p:spPr>
          <a:xfrm>
            <a:off x="89611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(RAG)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9611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 from your own policies &amp; reports.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EF3D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</a:t>
            </a:r>
            <a:endParaRPr lang="en-US" sz="1612" dirty="0"/>
          </a:p>
        </p:txBody>
      </p:sp>
      <p:sp>
        <p:nvSpPr>
          <p:cNvPr id="27" name="Text 25"/>
          <p:cNvSpPr/>
          <p:nvPr/>
        </p:nvSpPr>
        <p:spPr>
          <a:xfrm>
            <a:off x="7315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&amp; booking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315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Google Calendar — confirm before it acts.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461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747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1F3F6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1612" dirty="0"/>
          </a:p>
        </p:txBody>
      </p:sp>
      <p:sp>
        <p:nvSpPr>
          <p:cNvPr id="32" name="Text 30"/>
          <p:cNvSpPr/>
          <p:nvPr/>
        </p:nvSpPr>
        <p:spPr>
          <a:xfrm>
            <a:off x="34747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4747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medicines &amp; devices across Indian stores.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9893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179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/>
        </p:spPr>
      </p:sp>
      <p:sp>
        <p:nvSpPr>
          <p:cNvPr id="36" name="Text 34"/>
          <p:cNvSpPr/>
          <p:nvPr/>
        </p:nvSpPr>
        <p:spPr>
          <a:xfrm>
            <a:off x="62179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</a:t>
            </a:r>
            <a:endParaRPr lang="en-US" sz="1612" dirty="0"/>
          </a:p>
        </p:txBody>
      </p:sp>
      <p:sp>
        <p:nvSpPr>
          <p:cNvPr id="37" name="Text 35"/>
          <p:cNvSpPr/>
          <p:nvPr/>
        </p:nvSpPr>
        <p:spPr>
          <a:xfrm>
            <a:off x="62179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profiles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2179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Parents, children — even pets — each remembered.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7325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9611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6F4EA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612" dirty="0"/>
          </a:p>
        </p:txBody>
      </p:sp>
      <p:sp>
        <p:nvSpPr>
          <p:cNvPr id="42" name="Text 40"/>
          <p:cNvSpPr/>
          <p:nvPr/>
        </p:nvSpPr>
        <p:spPr>
          <a:xfrm>
            <a:off x="89611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89611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&amp; replies in 11 Indian languages.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→ coordinated care.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F1F3F4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👩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502920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in plain language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12264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14016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FCE8E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44368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94436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612" dirty="0"/>
          </a:p>
        </p:txBody>
      </p:sp>
      <p:sp>
        <p:nvSpPr>
          <p:cNvPr id="13" name="Text 11"/>
          <p:cNvSpPr/>
          <p:nvPr/>
        </p:nvSpPr>
        <p:spPr>
          <a:xfrm>
            <a:off x="2414016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05456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/ ambiguity check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325112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E8F0FE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55464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1612" dirty="0"/>
          </a:p>
        </p:txBody>
      </p:sp>
      <p:sp>
        <p:nvSpPr>
          <p:cNvPr id="19" name="Text 17"/>
          <p:cNvSpPr/>
          <p:nvPr/>
        </p:nvSpPr>
        <p:spPr>
          <a:xfrm>
            <a:off x="4325112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16552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function-calling loop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34456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236208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E6F4EA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66560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1612" dirty="0"/>
          </a:p>
        </p:txBody>
      </p:sp>
      <p:sp>
        <p:nvSpPr>
          <p:cNvPr id="25" name="Text 23"/>
          <p:cNvSpPr/>
          <p:nvPr/>
        </p:nvSpPr>
        <p:spPr>
          <a:xfrm>
            <a:off x="6236208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specialists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27648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typed results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45552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147304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FEF3D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677656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8677656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1612" dirty="0"/>
          </a:p>
        </p:txBody>
      </p:sp>
      <p:sp>
        <p:nvSpPr>
          <p:cNvPr id="31" name="Text 29"/>
          <p:cNvSpPr/>
          <p:nvPr/>
        </p:nvSpPr>
        <p:spPr>
          <a:xfrm>
            <a:off x="8147304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memory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38744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&amp; recalls facts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756648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10058400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E1F3F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588752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588752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</a:t>
            </a:r>
            <a:endParaRPr lang="en-US" sz="1612" dirty="0"/>
          </a:p>
        </p:txBody>
      </p:sp>
      <p:sp>
        <p:nvSpPr>
          <p:cNvPr id="37" name="Text 35"/>
          <p:cNvSpPr/>
          <p:nvPr/>
        </p:nvSpPr>
        <p:spPr>
          <a:xfrm>
            <a:off x="10058400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result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149840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inspectable trace + cards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2920" y="448056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31520" y="448056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“check schemes for my mother” → safety gate passes → Gemini calls find_coverage → Coverage agent returns grounded Aarogyasri &amp; PM-JAY cards → facts saved to Amma's graph → streamed back with the trace.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/ MOCK DIAGRAMS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3 interface — clean, and it shows its 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30352" y="1965960"/>
            <a:ext cx="3575304" cy="2045321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5" name="Image 0" descr="assets/orchestrator_tr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1993392"/>
            <a:ext cx="3520440" cy="19904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" y="4111865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with a live “N specialists consulted” trace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306824" y="1965960"/>
            <a:ext cx="3575304" cy="2045321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8" name="Image 1" descr="assets/routines_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1993392"/>
            <a:ext cx="3520440" cy="19904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42816" y="4111865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tailored, drafted by Gemini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083296" y="1965960"/>
            <a:ext cx="3575304" cy="2045321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11" name="Image 2" descr="assets/emergency_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1993392"/>
            <a:ext cx="3520440" cy="199045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19288" y="4111865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— one-tap SOS + medical sheet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Serverless-first, grounded, and safe by construction.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11183112" cy="777240"/>
          </a:xfrm>
          <a:prstGeom prst="roundRect">
            <a:avLst>
              <a:gd name="adj" fmla="val 10588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745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React + Vite + Tailwind · Material 3 (light/dark)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Hosting · SSE streaming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852160" y="2651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2971800"/>
            <a:ext cx="11183112" cy="777240"/>
          </a:xfrm>
          <a:prstGeom prst="roundRect">
            <a:avLst>
              <a:gd name="adj" fmla="val 10588"/>
            </a:avLst>
          </a:prstGeom>
          <a:solidFill>
            <a:srgbClr val="F1F3F4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9718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— FastAPI on Cloud Run (serverless, scales to zero)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Orchestrator: Gemini function-calling loop + code-level guardrails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0" y="37490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F3E8FD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43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· reasoning,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audio, embeddings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67278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E6F4EA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04438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data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· Firestore ·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Google Search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1636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FCE8E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68796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actions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· Gmail · Drive ·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— per-user OAuth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95994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FEF3D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3154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memory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+ Temporal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RAG over docs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5440680"/>
            <a:ext cx="11183112" cy="685800"/>
          </a:xfrm>
          <a:prstGeom prst="roundRect">
            <a:avLst>
              <a:gd name="adj" fmla="val 12000"/>
            </a:avLst>
          </a:prstGeom>
          <a:solidFill>
            <a:srgbClr val="E1F3F6"/>
          </a:solidFill>
          <a:ln w="12700">
            <a:solidFill>
              <a:srgbClr val="BCE2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544068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millions:  </a:t>
            </a:r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is stateless — move the single-writer SQLite to Firestore/AlloyDB and Cloud Run auto-scales 1→N behind its own load balancer. No VMs to manage.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· GOOGLE SERVICES · WHY THIS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Google model family — five services in one.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31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1206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/ tech 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2.5 Flash on Vertex AI — function calling, multimodal vision + audio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Fast, low-cost, grounded; one brain orchestrates 9 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Realtime voice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Live (native audio) + multimodal speech-to-text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Speak or hold a live conversation — no separate STT vendor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text-embedding-004 + Gemini OCR (reads photos/PDFs)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answers from the user's own documents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+ host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Run · Firebase Hosting · Cloud Build · Secret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Serverless, scales to zero, one-command deploy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Firestore (schemes/facilities) · Cloud Storage · SQLite KG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+ grounded; migrates to managed DB to scale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· Calendar · Gmail · Drive · Fit — per-user OAuth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become real, safe, user-owned actions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+ Vite + Tailwind · Google Material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Familiar, accessible, light + dark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THE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 — real data, real answers.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34924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5" name="Image 0" descr="assets/coverag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039112"/>
            <a:ext cx="2615184" cy="14786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6636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schemes + insurance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351276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8" name="Image 1" descr="assets/facility_c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708" y="2039112"/>
            <a:ext cx="2615184" cy="14786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32988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hospitals (Maps)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167628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11" name="Image 2" descr="assets/product_car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060" y="2039112"/>
            <a:ext cx="2615184" cy="14786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49340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medicine, compared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983980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14" name="Image 3" descr="assets/reader_vi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1412" y="2039112"/>
            <a:ext cx="2615184" cy="14786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965692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 from your docs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02920" y="5029200"/>
            <a:ext cx="11183112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indent="0" marL="0">
              <a:buNone/>
            </a:pPr>
            <a:r>
              <a:rPr lang="en-US" sz="1400" b="1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https://withcare-501007.web.app</a:t>
            </a:r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Source:  </a:t>
            </a:r>
            <a:pPr indent="0" marL="0">
              <a:buNone/>
            </a:pPr>
            <a:r>
              <a:rPr lang="en-US" sz="1400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https://github.com/charansai-1411/WithCare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 DURING PROTOTYPE REFINEMENT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in the refinement phase.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938528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E6F4E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938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508" dirty="0"/>
          </a:p>
        </p:txBody>
      </p:sp>
      <p:sp>
        <p:nvSpPr>
          <p:cNvPr id="7" name="Text 5"/>
          <p:cNvSpPr/>
          <p:nvPr/>
        </p:nvSpPr>
        <p:spPr>
          <a:xfrm>
            <a:off x="1371600" y="19568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Memory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tracked over time: vital trends, medicine adherence &amp; weekly reports — the trajectory, not just today's number.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60520" y="173736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61688" y="1938528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E1F3F6"/>
          </a:solidFill>
          <a:ln/>
        </p:spPr>
      </p:sp>
      <p:sp>
        <p:nvSpPr>
          <p:cNvPr id="11" name="Text 9"/>
          <p:cNvSpPr/>
          <p:nvPr/>
        </p:nvSpPr>
        <p:spPr>
          <a:xfrm>
            <a:off x="4361688" y="1938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</a:t>
            </a:r>
            <a:endParaRPr lang="en-US" sz="1508" dirty="0"/>
          </a:p>
        </p:txBody>
      </p:sp>
      <p:sp>
        <p:nvSpPr>
          <p:cNvPr id="12" name="Text 10"/>
          <p:cNvSpPr/>
          <p:nvPr/>
        </p:nvSpPr>
        <p:spPr>
          <a:xfrm>
            <a:off x="5029200" y="19568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Doctor Visit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61688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Live listens to the consultation and saves the meds, diet &amp; follow-up to your records.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73736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19288" y="1938528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E8F0FE"/>
          </a:solidFill>
          <a:ln/>
        </p:spPr>
      </p:sp>
      <p:sp>
        <p:nvSpPr>
          <p:cNvPr id="16" name="Text 14"/>
          <p:cNvSpPr/>
          <p:nvPr/>
        </p:nvSpPr>
        <p:spPr>
          <a:xfrm>
            <a:off x="8019288" y="1938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</a:t>
            </a:r>
            <a:endParaRPr lang="en-US" sz="1508" dirty="0"/>
          </a:p>
        </p:txBody>
      </p:sp>
      <p:sp>
        <p:nvSpPr>
          <p:cNvPr id="17" name="Text 15"/>
          <p:cNvSpPr/>
          <p:nvPr/>
        </p:nvSpPr>
        <p:spPr>
          <a:xfrm>
            <a:off x="8686800" y="19568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19288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Workout, diet, skincare, check-ups — manual or Gemini-drafted, with reminders.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" y="3877056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FCE8E6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" y="3877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en-US" sz="1508" dirty="0"/>
          </a:p>
        </p:txBody>
      </p:sp>
      <p:sp>
        <p:nvSpPr>
          <p:cNvPr id="22" name="Text 20"/>
          <p:cNvSpPr/>
          <p:nvPr/>
        </p:nvSpPr>
        <p:spPr>
          <a:xfrm>
            <a:off x="137160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" y="44531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reminders, supply tracking, a one-tap adherence check-off, and a Gmail refill alert.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160520" y="3675888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61688" y="3877056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FEF3D6"/>
          </a:solidFill>
          <a:ln/>
        </p:spPr>
      </p:sp>
      <p:sp>
        <p:nvSpPr>
          <p:cNvPr id="26" name="Text 24"/>
          <p:cNvSpPr/>
          <p:nvPr/>
        </p:nvSpPr>
        <p:spPr>
          <a:xfrm>
            <a:off x="4361688" y="3877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508" dirty="0"/>
          </a:p>
        </p:txBody>
      </p:sp>
      <p:sp>
        <p:nvSpPr>
          <p:cNvPr id="27" name="Text 25"/>
          <p:cNvSpPr/>
          <p:nvPr/>
        </p:nvSpPr>
        <p:spPr>
          <a:xfrm>
            <a:off x="502920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/ SOS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361688" y="44531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emails blood group, allergies &amp; medicines to family.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818120" y="3675888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19288" y="3877056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F3E8FD"/>
          </a:solidFill>
          <a:ln/>
        </p:spPr>
      </p:sp>
      <p:sp>
        <p:nvSpPr>
          <p:cNvPr id="31" name="Text 29"/>
          <p:cNvSpPr/>
          <p:nvPr/>
        </p:nvSpPr>
        <p:spPr>
          <a:xfrm>
            <a:off x="8019288" y="3877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843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1508" dirty="0"/>
          </a:p>
        </p:txBody>
      </p:sp>
      <p:sp>
        <p:nvSpPr>
          <p:cNvPr id="32" name="Text 30"/>
          <p:cNvSpPr/>
          <p:nvPr/>
        </p:nvSpPr>
        <p:spPr>
          <a:xfrm>
            <a:off x="868680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Gemini Live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019288" y="44531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or hold a live hands-free conversation — native audio, 11 languages.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02920" y="5486400"/>
            <a:ext cx="11183112" cy="685800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 w="12700">
            <a:solidFill>
              <a:srgbClr val="C4E7CF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152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hardened:  </a:t>
            </a:r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languages now reply in native script · a false-completion guard (can't fake a booking) · a grounding rule (won't invent schemes).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 — tested on the live deployment.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452/458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461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461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injection &amp; clinical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893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FCE8E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893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159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9893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attacks land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325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FEF3D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err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7325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1,086 requests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2920" y="3200400"/>
          <a:ext cx="65836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Shape 14"/>
          <p:cNvSpPr/>
          <p:nvPr/>
        </p:nvSpPr>
        <p:spPr>
          <a:xfrm>
            <a:off x="7223760" y="3200400"/>
            <a:ext cx="4462272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406640" y="33101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caught 3 real defects — all fixed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406640" y="37490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faked a booking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104120" y="37490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698480" y="37490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1018520" y="37490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440740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a fake govt scheme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0104120" y="4407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698480" y="4407408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1018520" y="4407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50657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replies left romanised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0104120" y="5065776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5/33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0698480" y="5065776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1018520" y="5065776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406640" y="5715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1,086 requests · 8 tenants · 0 timeouts · 0 DB-lock errors · 0.93s cold start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8" y="1371600"/>
            <a:ext cx="1737360" cy="14941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0632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family deserves a personal AI care team.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889608" y="4572000"/>
            <a:ext cx="8412480" cy="1005840"/>
          </a:xfrm>
          <a:prstGeom prst="roundRect">
            <a:avLst>
              <a:gd name="adj" fmla="val 8182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889608" y="457200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algn="ctr" indent="0" marL="0">
              <a:lnSpc>
                <a:spcPct val="135000"/>
              </a:lnSpc>
              <a:buNone/>
            </a:pPr>
            <a:r>
              <a:rPr lang="en-US" sz="1400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https://withcare-501007.web.app</a:t>
            </a:r>
            <a:pPr algn="ctr" indent="0" marL="0">
              <a:lnSpc>
                <a:spcPct val="135000"/>
              </a:lnSpc>
              <a:buNone/>
            </a:pP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https://github.com/charansai-1411/WithCare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Google Cloud with Gemini  ·  Team Transformers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WithCare — Prototype Submission</dc:title>
  <dc:subject>PptxGenJS Presentation</dc:subject>
  <dc:creator>Team Transformers</dc:creator>
  <cp:lastModifiedBy>Team Transformers</cp:lastModifiedBy>
  <cp:revision>1</cp:revision>
  <dcterms:created xsi:type="dcterms:W3CDTF">2026-07-28T12:54:04Z</dcterms:created>
  <dcterms:modified xsi:type="dcterms:W3CDTF">2026-07-28T12:54:04Z</dcterms:modified>
</cp:coreProperties>
</file>